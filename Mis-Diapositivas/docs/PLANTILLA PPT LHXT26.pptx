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3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Copia el título del artículo (español e inglés) y los autores tal como aparecen en la plantilla de autores.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Resumen, abstract y resumo del artículo con sus palabras clave. Puedes conservar solo el idioma de tu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del artículo, en el mismo orden de la plantilla para autores.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sección. Duplícalo antes de cada apartado del artículo cambiando número y título.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Introducción: problema, antecedentes y objetivo. Tres ideas como máximo.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Metodología: diseño y procedimiento, tal como se describe en el artículo.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del artículo. Mantén el rótulo Tabla 1 y su título bilingüe, como exige la plantilla.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del artículo con su rótulo bilingüe y las tres lecturas principales de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Discusión y conclusiones del artículo: interpretación, limitaciones y aportes.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 en formato APA VII, las mismas del artículo. Máximo cinco en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contacto de los autores, QR y aliados. Deja esta diapositiva durante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B55B1970-CDDF-9D75-EF99-4B433710A569}"/>
              </a:ext>
            </a:extLst>
          </p:cNvPr>
          <p:cNvGrpSpPr/>
          <p:nvPr/>
        </p:nvGrpSpPr>
        <p:grpSpPr>
          <a:xfrm>
            <a:off x="0" y="0"/>
            <a:ext cx="19646005" cy="10287000"/>
            <a:chOff x="0" y="0"/>
            <a:chExt cx="19646005" cy="1028700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gradFill rotWithShape="1">
              <a:gsLst>
                <a:gs pos="0">
                  <a:srgbClr val="5C0F1C">
                    <a:alpha val="100000"/>
                  </a:srgbClr>
                </a:gs>
                <a:gs pos="52000">
                  <a:srgbClr val="460811">
                    <a:alpha val="100000"/>
                  </a:srgbClr>
                </a:gs>
                <a:gs pos="100000">
                  <a:srgbClr val="32060D">
                    <a:alpha val="100000"/>
                  </a:srgbClr>
                </a:gs>
              </a:gsLst>
              <a:lin ang="840000" scaled="0"/>
            </a:gradFill>
            <a:ln/>
          </p:spPr>
          <p:txBody>
            <a:bodyPr/>
            <a:lstStyle/>
            <a:p>
              <a:endParaRPr lang="es-ES_tradnl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>
              <a:biLevel thresh="75000"/>
              <a:alphaModFix amt="50000"/>
            </a:blip>
            <a:stretch>
              <a:fillRect/>
            </a:stretch>
          </p:blipFill>
          <p:spPr>
            <a:xfrm>
              <a:off x="12407005" y="522514"/>
              <a:ext cx="7239000" cy="9753608"/>
            </a:xfrm>
            <a:prstGeom prst="rect">
              <a:avLst/>
            </a:prstGeom>
          </p:spPr>
        </p:pic>
      </p:grp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762000"/>
            <a:ext cx="2762250" cy="12477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29100" y="852488"/>
            <a:ext cx="19050" cy="10668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2"/>
          <p:cNvSpPr/>
          <p:nvPr/>
        </p:nvSpPr>
        <p:spPr>
          <a:xfrm>
            <a:off x="4667250" y="1007938"/>
            <a:ext cx="4380193" cy="793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2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Congreso Internacional de Investigación Interdisciplinar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1047750" y="3995068"/>
            <a:ext cx="742950" cy="5715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4"/>
          <p:cNvSpPr/>
          <p:nvPr/>
        </p:nvSpPr>
        <p:spPr>
          <a:xfrm>
            <a:off x="2000250" y="3883149"/>
            <a:ext cx="539664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375" dirty="0">
                <a:solidFill>
                  <a:srgbClr val="F5C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ARTÍCULO DE INVESTIGACIÓN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047750" y="4411787"/>
            <a:ext cx="14458950" cy="909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614"/>
              </a:lnSpc>
              <a:buNone/>
            </a:pPr>
            <a:r>
              <a:rPr lang="en-US" sz="6600" b="1" kern="0" spc="-1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artículo</a:t>
            </a:r>
            <a:endParaRPr lang="en-US" sz="6600" dirty="0"/>
          </a:p>
        </p:txBody>
      </p:sp>
      <p:sp>
        <p:nvSpPr>
          <p:cNvPr id="10" name="Text 6"/>
          <p:cNvSpPr/>
          <p:nvPr/>
        </p:nvSpPr>
        <p:spPr>
          <a:xfrm>
            <a:off x="1047750" y="5531123"/>
            <a:ext cx="14458950" cy="463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878"/>
              </a:lnSpc>
              <a:buNone/>
            </a:pPr>
            <a:r>
              <a:rPr lang="en-US" sz="2700" i="1" dirty="0">
                <a:solidFill>
                  <a:srgbClr val="CFA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en inglés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1047750" y="6261049"/>
            <a:ext cx="13538835" cy="1152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F0C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1 (nombres y apellidos) </a:t>
            </a:r>
          </a:p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F0C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2 (nombres y apellidos) </a:t>
            </a:r>
          </a:p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F0C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3 (nombres y apellidos)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4667250" y="1759755"/>
            <a:ext cx="6539592" cy="72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CARTAGENA DE INDIAS 28–30 OCT 2026</a:t>
            </a:r>
            <a:endParaRPr lang="en-US" sz="1950" dirty="0"/>
          </a:p>
        </p:txBody>
      </p:sp>
      <p:pic>
        <p:nvPicPr>
          <p:cNvPr id="1026" name="Picture 2" descr="Imagen institucional | Red de Investigaciones de Tecnología Avanzada RITA">
            <a:extLst>
              <a:ext uri="{FF2B5EF4-FFF2-40B4-BE49-F238E27FC236}">
                <a16:creationId xmlns:a16="http://schemas.microsoft.com/office/drawing/2014/main" id="{8EFA0025-BE8C-485B-0055-51DD01BAF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8869229"/>
            <a:ext cx="2704957" cy="9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cias Landing">
            <a:extLst>
              <a:ext uri="{FF2B5EF4-FFF2-40B4-BE49-F238E27FC236}">
                <a16:creationId xmlns:a16="http://schemas.microsoft.com/office/drawing/2014/main" id="{37D6C8B6-AC7B-2013-6A62-E82408AB9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468" y="9023907"/>
            <a:ext cx="2433108" cy="66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GLISH - Ingles para todos">
            <a:extLst>
              <a:ext uri="{FF2B5EF4-FFF2-40B4-BE49-F238E27FC236}">
                <a16:creationId xmlns:a16="http://schemas.microsoft.com/office/drawing/2014/main" id="{9689BDA7-F88A-BE8C-DC95-3C8F00DB5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337" y="8869229"/>
            <a:ext cx="2071810" cy="92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47532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076325" y="2759328"/>
            <a:ext cx="56019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b="1" kern="0" spc="18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76325" y="3607053"/>
            <a:ext cx="142072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del problema, la metodología y los hallazgos principales del artículo, en una sola idea continua.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076325" y="4897170"/>
            <a:ext cx="151727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C0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Palabras clave: </a:t>
            </a: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xxxx, xxxxx, xxxxx, xxxx.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1047750" y="2121433"/>
            <a:ext cx="5092675" cy="38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Shape 15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638300" cy="7429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52750" y="647700"/>
            <a:ext cx="9525" cy="666750"/>
          </a:xfrm>
          <a:prstGeom prst="rect">
            <a:avLst/>
          </a:prstGeom>
          <a:solidFill>
            <a:srgbClr val="DED3D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Text 1"/>
          <p:cNvSpPr/>
          <p:nvPr/>
        </p:nvSpPr>
        <p:spPr>
          <a:xfrm>
            <a:off x="3228975" y="833438"/>
            <a:ext cx="4000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65" dirty="0">
                <a:solidFill>
                  <a:srgbClr val="8D7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 DEL ARTÍCULO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799817" y="852488"/>
            <a:ext cx="15844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47750" y="15621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047750" y="3807619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1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684139" y="3807619"/>
            <a:ext cx="454887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684139" y="4279106"/>
            <a:ext cx="454887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antecedentes y objetivo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9572625" y="3807619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1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209014" y="3807619"/>
            <a:ext cx="523932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10209014" y="4279106"/>
            <a:ext cx="523932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Diseño, muestra, instrumentos y análisis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7750" y="5003006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1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684139" y="5003006"/>
            <a:ext cx="360532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684139" y="5474494"/>
            <a:ext cx="360532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y figuras del artículo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572625" y="5003006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1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0209013" y="5003006"/>
            <a:ext cx="559080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Discusión y conclusiones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10209014" y="5474494"/>
            <a:ext cx="44480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Interpretación, límites y aportes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047750" y="6198394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1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1684139" y="6198394"/>
            <a:ext cx="34756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Agradecimientos</a:t>
            </a:r>
            <a:endParaRPr lang="en-US" sz="2850" dirty="0"/>
          </a:p>
        </p:txBody>
      </p:sp>
      <p:sp>
        <p:nvSpPr>
          <p:cNvPr id="21" name="Text 18"/>
          <p:cNvSpPr/>
          <p:nvPr/>
        </p:nvSpPr>
        <p:spPr>
          <a:xfrm>
            <a:off x="1684139" y="6669881"/>
            <a:ext cx="29655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 err="1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Financiación</a:t>
            </a: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apoyos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572625" y="6198394"/>
            <a:ext cx="4649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1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0209014" y="6198394"/>
            <a:ext cx="3828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y anexos</a:t>
            </a:r>
            <a:endParaRPr lang="en-US" sz="2850" dirty="0"/>
          </a:p>
        </p:txBody>
      </p:sp>
      <p:sp>
        <p:nvSpPr>
          <p:cNvPr id="24" name="Text 21"/>
          <p:cNvSpPr/>
          <p:nvPr/>
        </p:nvSpPr>
        <p:spPr>
          <a:xfrm>
            <a:off x="10209014" y="6669881"/>
            <a:ext cx="38287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APA 7.ª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6" name="Text 23"/>
          <p:cNvSpPr/>
          <p:nvPr/>
        </p:nvSpPr>
        <p:spPr>
          <a:xfrm>
            <a:off x="1047750" y="9496425"/>
            <a:ext cx="4358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CARTAGENA · 28–30 OCT 2026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6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rcRect l="-2537" r="-2537"/>
          <a:stretch/>
        </p:blipFill>
        <p:spPr>
          <a:xfrm>
            <a:off x="0" y="7429500"/>
            <a:ext cx="2286000" cy="2857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rcRect l="-34060" r="-34060"/>
          <a:stretch/>
        </p:blipFill>
        <p:spPr>
          <a:xfrm>
            <a:off x="2800350" y="7905750"/>
            <a:ext cx="3048000" cy="2381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rcRect b="-14205"/>
          <a:stretch/>
        </p:blipFill>
        <p:spPr>
          <a:xfrm>
            <a:off x="6362700" y="7143750"/>
            <a:ext cx="2095500" cy="3143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50" y="3595762"/>
            <a:ext cx="1059359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205"/>
              </a:lnSpc>
              <a:buNone/>
            </a:pPr>
            <a:r>
              <a:rPr lang="en-US" sz="6450" b="1" dirty="0">
                <a:solidFill>
                  <a:srgbClr val="F5C2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450" dirty="0"/>
          </a:p>
        </p:txBody>
      </p:sp>
      <p:sp>
        <p:nvSpPr>
          <p:cNvPr id="6" name="Shape 1"/>
          <p:cNvSpPr/>
          <p:nvPr/>
        </p:nvSpPr>
        <p:spPr>
          <a:xfrm>
            <a:off x="2259509" y="3981524"/>
            <a:ext cx="1143000" cy="47625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2"/>
          <p:cNvSpPr/>
          <p:nvPr/>
        </p:nvSpPr>
        <p:spPr>
          <a:xfrm>
            <a:off x="1047750" y="4681612"/>
            <a:ext cx="111061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132"/>
              </a:lnSpc>
              <a:buNone/>
            </a:pPr>
            <a:r>
              <a:rPr lang="en-US" sz="69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6900" dirty="0"/>
          </a:p>
        </p:txBody>
      </p:sp>
      <p:sp>
        <p:nvSpPr>
          <p:cNvPr id="8" name="Text 3"/>
          <p:cNvSpPr/>
          <p:nvPr/>
        </p:nvSpPr>
        <p:spPr>
          <a:xfrm>
            <a:off x="1047750" y="5868367"/>
            <a:ext cx="1039939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F0C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 que resume el planteamiento del problema y el objetivo del estudio.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2992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INTRODUCCIÓN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047750" y="3728814"/>
            <a:ext cx="157162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310"/>
              </a:lnSpc>
              <a:buNone/>
            </a:pPr>
            <a:r>
              <a:rPr lang="en-US" sz="4650" b="1" kern="0" spc="-105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Planteamiento del problema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1047750" y="4690393"/>
            <a:ext cx="14878050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478"/>
              </a:lnSpc>
              <a:buNone/>
            </a:pPr>
            <a:r>
              <a:rPr lang="en-US" sz="22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Entradilla de una o dos líneas que enmarca el vacío de conocimiento que aborda el artículo.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5591398"/>
            <a:ext cx="114300" cy="114300"/>
          </a:xfrm>
          <a:prstGeom prst="ellipse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1371600" y="5458048"/>
            <a:ext cx="816811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antecedentes: qué se sabe hasta ahora.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47750" y="6167661"/>
            <a:ext cx="114300" cy="114300"/>
          </a:xfrm>
          <a:prstGeom prst="ellipse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1371600" y="6034311"/>
            <a:ext cx="729021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Vacío o problema identificado en la literatura.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47750" y="6743923"/>
            <a:ext cx="114300" cy="114300"/>
          </a:xfrm>
          <a:prstGeom prst="ellipse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371600" y="6610573"/>
            <a:ext cx="722513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 y pregunta de investigación.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2816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METODOLOGÍA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047750" y="3603352"/>
            <a:ext cx="178117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310"/>
              </a:lnSpc>
              <a:buNone/>
            </a:pPr>
            <a:r>
              <a:rPr lang="en-US" sz="4650" b="1" kern="0" spc="-105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y procedimiento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4622081"/>
            <a:ext cx="7829550" cy="2499643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Shape 5"/>
          <p:cNvSpPr/>
          <p:nvPr/>
        </p:nvSpPr>
        <p:spPr>
          <a:xfrm>
            <a:off x="1047750" y="4622081"/>
            <a:ext cx="7829550" cy="4762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1447800" y="5031656"/>
            <a:ext cx="77323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65" dirty="0">
                <a:solidFill>
                  <a:srgbClr val="C0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47800" y="5460281"/>
            <a:ext cx="7732395" cy="435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854"/>
              </a:lnSpc>
              <a:buNone/>
            </a:pPr>
            <a:r>
              <a:rPr lang="en-US" sz="270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estudio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447800" y="6029474"/>
            <a:ext cx="7240334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Enfoque, alcance y periodo de recolección de la información.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9410700" y="4622081"/>
            <a:ext cx="7829550" cy="2499643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Shape 10"/>
          <p:cNvSpPr/>
          <p:nvPr/>
        </p:nvSpPr>
        <p:spPr>
          <a:xfrm>
            <a:off x="9410700" y="4622081"/>
            <a:ext cx="7829550" cy="47625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1"/>
          <p:cNvSpPr/>
          <p:nvPr/>
        </p:nvSpPr>
        <p:spPr>
          <a:xfrm>
            <a:off x="9810750" y="5031656"/>
            <a:ext cx="77323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65" dirty="0">
                <a:solidFill>
                  <a:srgbClr val="C0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MUESTRA E INSTRUMENTOS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810750" y="5460281"/>
            <a:ext cx="7732395" cy="435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854"/>
              </a:lnSpc>
              <a:buNone/>
            </a:pPr>
            <a:r>
              <a:rPr lang="en-US" sz="270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Participantes y técnicas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810750" y="6029474"/>
            <a:ext cx="7240334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Población, criterios de selección y técnicas de recolección y análisis de datos.</a:t>
            </a:r>
            <a:endParaRPr lang="en-US" sz="2025" dirty="0"/>
          </a:p>
        </p:txBody>
      </p:sp>
      <p:sp>
        <p:nvSpPr>
          <p:cNvPr id="17" name="Shape 14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Text 15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26407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RESULTADOS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047750" y="323656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1. Título de la tabla.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364614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i="1" dirty="0">
                <a:solidFill>
                  <a:srgbClr val="8D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Título de la tabla en inglés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047750" y="6941790"/>
            <a:ext cx="16192500" cy="285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Shape 6"/>
          <p:cNvSpPr/>
          <p:nvPr/>
        </p:nvSpPr>
        <p:spPr>
          <a:xfrm>
            <a:off x="1047750" y="4150965"/>
            <a:ext cx="16192500" cy="285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Shape 7"/>
          <p:cNvSpPr/>
          <p:nvPr/>
        </p:nvSpPr>
        <p:spPr>
          <a:xfrm>
            <a:off x="1047750" y="4179540"/>
            <a:ext cx="3070920" cy="6000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1257300" y="4350990"/>
            <a:ext cx="27439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GÉNERO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118670" y="4179540"/>
            <a:ext cx="5583659" cy="6000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4328220" y="4350990"/>
            <a:ext cx="53320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702329" y="4179540"/>
            <a:ext cx="3908524" cy="6000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9911879" y="4350990"/>
            <a:ext cx="36066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GLÁNDULAS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610853" y="4179540"/>
            <a:ext cx="3629323" cy="6000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4"/>
          <p:cNvSpPr/>
          <p:nvPr/>
        </p:nvSpPr>
        <p:spPr>
          <a:xfrm>
            <a:off x="13820403" y="4350990"/>
            <a:ext cx="33191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FRUTOS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47750" y="5493990"/>
            <a:ext cx="3070920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1257300" y="4951065"/>
            <a:ext cx="27439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A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4118670" y="5493990"/>
            <a:ext cx="5583659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Text 18"/>
          <p:cNvSpPr/>
          <p:nvPr/>
        </p:nvSpPr>
        <p:spPr>
          <a:xfrm>
            <a:off x="4328220" y="4951065"/>
            <a:ext cx="53320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descriptivo de la primera fila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9702329" y="5493990"/>
            <a:ext cx="3908524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3" name="Text 20"/>
          <p:cNvSpPr/>
          <p:nvPr/>
        </p:nvSpPr>
        <p:spPr>
          <a:xfrm>
            <a:off x="9911879" y="4951065"/>
            <a:ext cx="36066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3610853" y="5493990"/>
            <a:ext cx="3629323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5" name="Text 22"/>
          <p:cNvSpPr/>
          <p:nvPr/>
        </p:nvSpPr>
        <p:spPr>
          <a:xfrm>
            <a:off x="13820403" y="4951065"/>
            <a:ext cx="33191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047750" y="5503515"/>
            <a:ext cx="3070920" cy="723900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7" name="Shape 24"/>
          <p:cNvSpPr/>
          <p:nvPr/>
        </p:nvSpPr>
        <p:spPr>
          <a:xfrm>
            <a:off x="1047750" y="6217890"/>
            <a:ext cx="3070920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8" name="Text 25"/>
          <p:cNvSpPr/>
          <p:nvPr/>
        </p:nvSpPr>
        <p:spPr>
          <a:xfrm>
            <a:off x="1257300" y="5674965"/>
            <a:ext cx="27439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B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4118670" y="5503515"/>
            <a:ext cx="5583659" cy="723900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0" name="Shape 27"/>
          <p:cNvSpPr/>
          <p:nvPr/>
        </p:nvSpPr>
        <p:spPr>
          <a:xfrm>
            <a:off x="4118670" y="6217890"/>
            <a:ext cx="5583659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1" name="Text 28"/>
          <p:cNvSpPr/>
          <p:nvPr/>
        </p:nvSpPr>
        <p:spPr>
          <a:xfrm>
            <a:off x="4328220" y="5674965"/>
            <a:ext cx="53320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descriptivo de la segunda fila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9702329" y="5503515"/>
            <a:ext cx="3908524" cy="723900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3" name="Shape 30"/>
          <p:cNvSpPr/>
          <p:nvPr/>
        </p:nvSpPr>
        <p:spPr>
          <a:xfrm>
            <a:off x="9702329" y="6217890"/>
            <a:ext cx="3908524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4" name="Text 31"/>
          <p:cNvSpPr/>
          <p:nvPr/>
        </p:nvSpPr>
        <p:spPr>
          <a:xfrm>
            <a:off x="9911879" y="5674965"/>
            <a:ext cx="36066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13610853" y="5503515"/>
            <a:ext cx="3629323" cy="723900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6" name="Shape 33"/>
          <p:cNvSpPr/>
          <p:nvPr/>
        </p:nvSpPr>
        <p:spPr>
          <a:xfrm>
            <a:off x="13610853" y="6217890"/>
            <a:ext cx="3629323" cy="9525"/>
          </a:xfrm>
          <a:prstGeom prst="rect">
            <a:avLst/>
          </a:prstGeom>
          <a:solidFill>
            <a:srgbClr val="EAE0E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7" name="Text 34"/>
          <p:cNvSpPr/>
          <p:nvPr/>
        </p:nvSpPr>
        <p:spPr>
          <a:xfrm>
            <a:off x="13820403" y="5674965"/>
            <a:ext cx="33191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950" dirty="0"/>
          </a:p>
        </p:txBody>
      </p:sp>
      <p:sp>
        <p:nvSpPr>
          <p:cNvPr id="38" name="Text 35"/>
          <p:cNvSpPr/>
          <p:nvPr/>
        </p:nvSpPr>
        <p:spPr>
          <a:xfrm>
            <a:off x="1257300" y="6398865"/>
            <a:ext cx="27439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4328220" y="6398865"/>
            <a:ext cx="53320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descriptivo de la tercera fila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9911879" y="6398865"/>
            <a:ext cx="36066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13820403" y="6398865"/>
            <a:ext cx="33191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950" dirty="0"/>
          </a:p>
        </p:txBody>
      </p:sp>
      <p:sp>
        <p:nvSpPr>
          <p:cNvPr id="42" name="Text 39"/>
          <p:cNvSpPr/>
          <p:nvPr/>
        </p:nvSpPr>
        <p:spPr>
          <a:xfrm>
            <a:off x="1047750" y="7179915"/>
            <a:ext cx="1781175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8D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propia. Nota metodológica breve si la tabla lo requiere.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4" name="Text 41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26407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RESULTADOS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Shape 3"/>
          <p:cNvSpPr/>
          <p:nvPr/>
        </p:nvSpPr>
        <p:spPr>
          <a:xfrm>
            <a:off x="1047750" y="2469356"/>
            <a:ext cx="8699450" cy="4991100"/>
          </a:xfrm>
          <a:prstGeom prst="rect">
            <a:avLst/>
          </a:prstGeom>
          <a:solidFill>
            <a:srgbClr val="FAF5F5"/>
          </a:solidFill>
          <a:ln w="19050">
            <a:solidFill>
              <a:srgbClr val="D8CDCF"/>
            </a:solidFill>
            <a:prstDash val="dash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3444850" y="4817269"/>
            <a:ext cx="42957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INSERTAR FIGURA O GRÁFICO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7750" y="7612856"/>
            <a:ext cx="956939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1. Título de la figura.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47750" y="7979569"/>
            <a:ext cx="9569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i="1" dirty="0">
                <a:solidFill>
                  <a:srgbClr val="8D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Título de la figura en inglés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0280600" y="3321918"/>
            <a:ext cx="7655615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134"/>
              </a:lnSpc>
              <a:buNone/>
            </a:pPr>
            <a:r>
              <a:rPr lang="en-US" sz="3900" b="1" kern="0" spc="-9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principales</a:t>
            </a:r>
            <a:endParaRPr lang="en-US" sz="3900" dirty="0"/>
          </a:p>
        </p:txBody>
      </p:sp>
      <p:sp>
        <p:nvSpPr>
          <p:cNvPr id="11" name="Shape 8"/>
          <p:cNvSpPr/>
          <p:nvPr/>
        </p:nvSpPr>
        <p:spPr>
          <a:xfrm>
            <a:off x="10280600" y="4152454"/>
            <a:ext cx="47625" cy="943868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9"/>
          <p:cNvSpPr/>
          <p:nvPr/>
        </p:nvSpPr>
        <p:spPr>
          <a:xfrm>
            <a:off x="10537775" y="4152454"/>
            <a:ext cx="737272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22"/>
              </a:lnSpc>
              <a:buNone/>
            </a:pPr>
            <a:r>
              <a:rPr lang="en-US" sz="4200" b="1" kern="0" spc="-150" dirty="0">
                <a:solidFill>
                  <a:srgbClr val="460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10537775" y="4762054"/>
            <a:ext cx="73727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del primer resultado.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0280600" y="5305871"/>
            <a:ext cx="47625" cy="943868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10537775" y="5305871"/>
            <a:ext cx="737272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22"/>
              </a:lnSpc>
              <a:buNone/>
            </a:pPr>
            <a:r>
              <a:rPr lang="en-US" sz="4200" b="1" kern="0" spc="-150" dirty="0">
                <a:solidFill>
                  <a:srgbClr val="460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0,00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10537775" y="5915471"/>
            <a:ext cx="73727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del segundo resultado.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0280600" y="6459289"/>
            <a:ext cx="47625" cy="943868"/>
          </a:xfrm>
          <a:prstGeom prst="rect">
            <a:avLst/>
          </a:prstGeom>
          <a:solidFill>
            <a:srgbClr val="F5C2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Text 15"/>
          <p:cNvSpPr/>
          <p:nvPr/>
        </p:nvSpPr>
        <p:spPr>
          <a:xfrm>
            <a:off x="10537775" y="6459289"/>
            <a:ext cx="737272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22"/>
              </a:lnSpc>
              <a:buNone/>
            </a:pPr>
            <a:r>
              <a:rPr lang="en-US" sz="4200" b="1" kern="0" spc="-150" dirty="0">
                <a:solidFill>
                  <a:srgbClr val="460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00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10537775" y="7068889"/>
            <a:ext cx="73727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de la muestra analizada.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Text 18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51054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DISCUSIÓN Y CONCLUSIONES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047750" y="3582591"/>
            <a:ext cx="17811750" cy="675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310"/>
              </a:lnSpc>
              <a:buNone/>
            </a:pPr>
            <a:r>
              <a:rPr lang="en-US" sz="4650" b="1" kern="0" spc="-105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significan los resultados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4582269"/>
            <a:ext cx="5092675" cy="285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047750" y="4839444"/>
            <a:ext cx="56019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65" dirty="0">
                <a:solidFill>
                  <a:srgbClr val="C0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5229969"/>
            <a:ext cx="5245455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Diálogo de los hallazgos con la literatura citada en el artículo.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597625" y="4582269"/>
            <a:ext cx="5092675" cy="285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6597625" y="4839444"/>
            <a:ext cx="56019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65" dirty="0">
                <a:solidFill>
                  <a:srgbClr val="C0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LIMITACIONES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97625" y="5229969"/>
            <a:ext cx="5245455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 los datos y condiciones que restringen la generalización.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2147500" y="4582269"/>
            <a:ext cx="5092750" cy="285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1"/>
          <p:cNvSpPr/>
          <p:nvPr/>
        </p:nvSpPr>
        <p:spPr>
          <a:xfrm>
            <a:off x="12147500" y="4839444"/>
            <a:ext cx="56020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65" dirty="0">
                <a:solidFill>
                  <a:srgbClr val="C0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47500" y="5229969"/>
            <a:ext cx="5245532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del estudio y líneas de trabajo futuro.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47750" y="6338590"/>
            <a:ext cx="16192500" cy="803895"/>
          </a:xfrm>
          <a:prstGeom prst="rect">
            <a:avLst/>
          </a:prstGeom>
          <a:solidFill>
            <a:srgbClr val="FAF5F5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Shape 14"/>
          <p:cNvSpPr/>
          <p:nvPr/>
        </p:nvSpPr>
        <p:spPr>
          <a:xfrm>
            <a:off x="1047750" y="6338590"/>
            <a:ext cx="47625" cy="803895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8" name="Text 15"/>
          <p:cNvSpPr/>
          <p:nvPr/>
        </p:nvSpPr>
        <p:spPr>
          <a:xfrm>
            <a:off x="1381125" y="6567190"/>
            <a:ext cx="1233046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460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Agradecimientos: </a:t>
            </a:r>
            <a:r>
              <a:rPr lang="en-US" sz="19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financiadoras, grupos de investigación y apoyos institucionales.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0" name="Text 17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714375"/>
            <a:ext cx="57150" cy="419100"/>
          </a:xfrm>
          <a:prstGeom prst="rect">
            <a:avLst/>
          </a:prstGeom>
          <a:solidFill>
            <a:srgbClr val="C9101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Text 1"/>
          <p:cNvSpPr/>
          <p:nvPr/>
        </p:nvSpPr>
        <p:spPr>
          <a:xfrm>
            <a:off x="1314450" y="795338"/>
            <a:ext cx="45772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REFERENCIAS · APA VII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0" y="609600"/>
            <a:ext cx="1390650" cy="628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478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047750" y="3255764"/>
            <a:ext cx="178117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04"/>
              </a:lnSpc>
              <a:buNone/>
            </a:pPr>
            <a:r>
              <a:rPr lang="en-US" sz="4200" b="1" kern="0" spc="-9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466850" y="4090095"/>
            <a:ext cx="1488567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Apellido, A., Apellido, B. &amp; Apellido, C. (2010). Título del artículo de revista. </a:t>
            </a:r>
            <a:r>
              <a:rPr lang="en-US" sz="2025" i="1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la revista, 13 </a:t>
            </a: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(2), 201-222. https://doi.org/xx.xxxx/xxxx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466850" y="5000625"/>
            <a:ext cx="159258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Apellido, G., Apellido, H. &amp; Apellido, R. (2008). </a:t>
            </a:r>
            <a:r>
              <a:rPr lang="en-US" sz="2025" i="1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libro</a:t>
            </a: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Editorial.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66850" y="5551140"/>
            <a:ext cx="1488567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Apellido, I. C. (2001). Título del capítulo. En J. Editor y Y. Editora (eds.). </a:t>
            </a:r>
            <a:r>
              <a:rPr lang="en-US" sz="2025" i="1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libro </a:t>
            </a: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(pp. 135-237). Editorial universitaria.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466850" y="6461671"/>
            <a:ext cx="159258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Apellido-M., R. (2010). </a:t>
            </a:r>
            <a:r>
              <a:rPr lang="en-US" sz="2025" i="1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trabajo de grado</a:t>
            </a:r>
            <a:r>
              <a:rPr lang="en-US" sz="2025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[Trabajo de grado, Programa, Universidad].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047750" y="7126486"/>
            <a:ext cx="166782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D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anexos del artículo se incluyen al final de la presentación solo si se van a comentar.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47750" y="9258300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1047750" y="94964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CONGRESO · 2026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49004" y="9515475"/>
            <a:ext cx="28503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20" dirty="0">
                <a:solidFill>
                  <a:srgbClr val="4608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638300" cy="742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119946" y="852488"/>
            <a:ext cx="11965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A0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GRACIAS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047750" y="1562100"/>
            <a:ext cx="16192500" cy="19050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2"/>
          <p:cNvSpPr/>
          <p:nvPr/>
        </p:nvSpPr>
        <p:spPr>
          <a:xfrm>
            <a:off x="1047750" y="4097834"/>
            <a:ext cx="13935075" cy="795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894"/>
              </a:lnSpc>
              <a:buNone/>
            </a:pPr>
            <a:r>
              <a:rPr lang="en-US" sz="5850" b="1" kern="0" spc="-150" dirty="0">
                <a:solidFill>
                  <a:srgbClr val="2C05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1047750" y="5084192"/>
            <a:ext cx="130482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5D4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1 · correo@universidad.edu.co Grupo de investigación · Universidad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6170042"/>
            <a:ext cx="1918543" cy="523875"/>
          </a:xfrm>
          <a:prstGeom prst="rect">
            <a:avLst/>
          </a:prstGeom>
          <a:solidFill>
            <a:srgbClr val="460811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1295400" y="6303392"/>
            <a:ext cx="14994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6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56793" y="6246242"/>
            <a:ext cx="67905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C6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al 30 de octubre de 2026 · Cartagena de Indias</a:t>
            </a:r>
            <a:endParaRPr lang="en-US" sz="1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5109" t="6571" r="10166" b="2919"/>
          <a:stretch>
            <a:fillRect/>
          </a:stretch>
        </p:blipFill>
        <p:spPr>
          <a:xfrm>
            <a:off x="14343699" y="3731663"/>
            <a:ext cx="2507388" cy="2678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89525" y="6619875"/>
            <a:ext cx="28498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20" dirty="0">
                <a:solidFill>
                  <a:srgbClr val="7C6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LOHACEMOSXTIC.COM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047750" y="9210675"/>
            <a:ext cx="16192500" cy="9525"/>
          </a:xfrm>
          <a:prstGeom prst="rect">
            <a:avLst/>
          </a:prstGeom>
          <a:solidFill>
            <a:srgbClr val="E4DADB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41" r="-41"/>
          <a:stretch/>
        </p:blipFill>
        <p:spPr>
          <a:xfrm>
            <a:off x="1047750" y="9429750"/>
            <a:ext cx="1209675" cy="43815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74" b="-74"/>
          <a:stretch/>
        </p:blipFill>
        <p:spPr>
          <a:xfrm>
            <a:off x="2600325" y="9429750"/>
            <a:ext cx="895350" cy="438150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206" b="-206"/>
          <a:stretch/>
        </p:blipFill>
        <p:spPr>
          <a:xfrm>
            <a:off x="3838575" y="9429750"/>
            <a:ext cx="904875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835</Words>
  <Application>Microsoft Macintosh PowerPoint</Application>
  <PresentationFormat>Personalizado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</cp:lastModifiedBy>
  <cp:revision>3</cp:revision>
  <dcterms:created xsi:type="dcterms:W3CDTF">2026-09-16T17:34:33Z</dcterms:created>
  <dcterms:modified xsi:type="dcterms:W3CDTF">2026-09-16T17:52:31Z</dcterms:modified>
</cp:coreProperties>
</file>